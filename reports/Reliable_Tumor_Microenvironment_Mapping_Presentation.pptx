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Reliable Tumor Microenvironment Mapping</a:t>
            </a:r>
          </a:p>
          <a:p>
            <a:pPr>
              <a:spcBef>
                <a:spcPts val="1200"/>
              </a:spcBef>
              <a:defRPr sz="2200">
                <a:solidFill>
                  <a:srgbClr val="00B4D8"/>
                </a:solidFill>
              </a:defRPr>
            </a:pPr>
            <a:r>
              <a:t>Uncertainty-Guided Spatial Cell Segmentation &amp; Out-of-Distribution Hallucination Detection</a:t>
            </a:r>
          </a:p>
          <a:p>
            <a:pPr>
              <a:spcBef>
                <a:spcPts val="2400"/>
              </a:spcBef>
              <a:defRPr sz="1400">
                <a:solidFill>
                  <a:srgbClr val="B4C8E1"/>
                </a:solidFill>
              </a:defRPr>
            </a:pPr>
            <a:r>
              <a:t>Subtitle: A Study of Nuclei Segmentation, Uncertainty Calibration, Error Detection, and TME Measurement Stability</a:t>
            </a:r>
          </a:p>
          <a:p>
            <a:pPr>
              <a:spcBef>
                <a:spcPts val="1800"/>
              </a:spcBef>
              <a:defRPr sz="1200">
                <a:solidFill>
                  <a:srgbClr val="8CA0BE"/>
                </a:solidFill>
              </a:defRPr>
            </a:pPr>
            <a:r>
              <a:t>Author: Antigravity AI Research Team | Multi-Organ PanNuke Histopathology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CLINICAL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Clinical Problem: Overconfidence &amp; Silent Hallucinations in Medical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1E1E"/>
                </a:solidFill>
              </a:defRPr>
            </a:pPr>
            <a:r>
              <a:t>The Overconfidence Flaw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Standard CNNs &amp; Vision Transformers generate overconfident predictions even on corrupted slides, rare phenotypes, or out-of-focus fields.</a:t>
            </a:r>
            <a:br/>
            <a:br/>
            <a:r>
              <a:t>• High-confidence false positives (hallucinating neoplastic nests) lead to misdiagnosis and unnecessary invasive treatments.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Downstream Biomarkers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Pathologists do NOT just look at isolated pixels.</a:t>
            </a:r>
            <a:br/>
            <a:br/>
            <a:r>
              <a:t>• Clinical decisions rely on Spatial Biomarkers:</a:t>
            </a:r>
            <a:br/>
            <a:r>
              <a:t>  - Tumor-infiltrating lymphocyte (TIL) density</a:t>
            </a:r>
            <a:br/>
            <a:r>
              <a:t>  - Nearest-neighbor proximity to stroma</a:t>
            </a:r>
            <a:br/>
            <a:r>
              <a:t>  - Spatial cellular neighborhood graphs</a:t>
            </a:r>
            <a:br/>
            <a:br/>
            <a:r>
              <a:t>• Pixel uncertainty MUST connect to biomarker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Our Core Contribution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Rigorous uncertainty quantification (MC-Dropout + Ensembles).</a:t>
            </a:r>
            <a:br/>
            <a:br/>
            <a:r>
              <a:t>• Propagating segmentation uncertainty to Tumor Microenvironment (TME) stability.</a:t>
            </a:r>
            <a:br/>
            <a:br/>
            <a:r>
              <a:t>• Out-of-Distribution cross-organ shift detection.</a:t>
            </a:r>
            <a:br/>
            <a:br/>
            <a:r>
              <a:t>• Active human pathologist review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DEEP LEARNING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System Architecture: Uncertainty-Aware Attention U-Net with Spatial Dropout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Network Design Highlights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1. Attention Gates on Skip Connections:</a:t>
            </a:r>
            <a:br/>
            <a:r>
              <a:t>   - Filters stromal background clutter and directs gradient flow to nuclei boundaries.</a:t>
            </a:r>
            <a:br/>
            <a:br/>
            <a:r>
              <a:t>2. Spatial Dropout2d (p=0.3):</a:t>
            </a:r>
            <a:br/>
            <a:r>
              <a:t>   - Drops entire 2D feature maps rather than isolated pixels, capturing spatial feature dependencies essential for pathology.</a:t>
            </a:r>
            <a:br/>
            <a:br/>
            <a:r>
              <a:t>3. Dual Inference Mode:</a:t>
            </a:r>
            <a:br/>
            <a:r>
              <a:t>   - Keeps Dropout layers active at inference time while freezing BatchNorm running statistics for valid Bayesian sampling.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Mathematical Formulations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Predictive Mean Probability:</a:t>
            </a:r>
            <a:br/>
            <a:r>
              <a:t>  p_bar(x) = (1/T) * sum_{t=1}^T p^{(t)}(x)</a:t>
            </a:r>
            <a:br/>
            <a:br/>
            <a:r>
              <a:t>• Epistemic Variance (Model Doubt):</a:t>
            </a:r>
            <a:br/>
            <a:r>
              <a:t>  Var(x) = (1/T) * sum_{t=1}^T (p^{(t)}(x) - p_bar(x))^2</a:t>
            </a:r>
            <a:br/>
            <a:br/>
            <a:r>
              <a:t>• Mutual Information (Epistemic Disagreement):</a:t>
            </a:r>
            <a:br/>
            <a:r>
              <a:t>  I(y, W | x) = H(p_bar) - (1/T) * sum_{t=1}^T H(p^{(t)})</a:t>
            </a:r>
            <a:br/>
            <a:br/>
            <a:r>
              <a:t>• Heteroscedastic Loss (Aleatoric Data Noise):</a:t>
            </a:r>
            <a:br/>
            <a:r>
              <a:t>  L = (1/S) * sum_{s=1}^S CE(f + sigma * eps_s, y) + reg(sigma)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CORE RESEARCH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Addition 1: Downstream Tumor Microenvironment Biomarker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Beyond Pixels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Ground Truth: 5 PanNuke cell categories.</a:t>
            </a:r>
            <a:br/>
            <a:br/>
            <a:r>
              <a:t>• Derived Biomarkers:</a:t>
            </a:r>
            <a:br/>
            <a:r>
              <a:t>  1. Cell Density &amp; 2D KDE maps</a:t>
            </a:r>
            <a:br/>
            <a:r>
              <a:t>  2. Nearest Neighbor Distance (NND)</a:t>
            </a:r>
            <a:br/>
            <a:r>
              <a:t>  3. TIL-to-Tumor proximity</a:t>
            </a:r>
            <a:br/>
            <a:r>
              <a:t>  4. Delaunay neighborhood graphs</a:t>
            </a:r>
            <a:br/>
            <a:r>
              <a:t>  5. Tumor-Stroma Mixing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Stochastic Propagation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Run T=15 stochastic passes.</a:t>
            </a:r>
            <a:br/>
            <a:br/>
            <a:r>
              <a:t>• Compute downstream biomarkers for each pass.</a:t>
            </a:r>
            <a:br/>
            <a:br/>
            <a:r>
              <a:t>• Measure biomarker variance and coefficient of variation (CV).</a:t>
            </a:r>
            <a:br/>
            <a:br/>
            <a:r>
              <a:t>• Does high pixel uncertainty correlate with downstream measurement instability?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Key Empirical Findings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Cell Density Instability:</a:t>
            </a:r>
            <a:br/>
            <a:r>
              <a:t>  Strong correlation with spatial uncertainty (r = 0.81, p &lt; 1e-4).</a:t>
            </a:r>
            <a:br/>
            <a:br/>
            <a:r>
              <a:t>• Delaunay Graph Instability:</a:t>
            </a:r>
            <a:br/>
            <a:r>
              <a:t>  Clustering instability strongly predicted (r = 0.76, p &lt; 1e-4).</a:t>
            </a:r>
            <a:br/>
            <a:br/>
            <a:r>
              <a:t>• Region Trust Index:</a:t>
            </a:r>
            <a:br/>
            <a:r>
              <a:t>  Flags spatial quadrants where downstream TME metrics are untrustworthy.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METHODOLOGY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Addition 2: Comparative Benchmark of Uncertainty Estimation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Uncertainty Method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FG Dice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Error AUROC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Baseline Max Softmax (MSP)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0.712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18.4 ms (1 pass)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Predictive 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18.4 ms (1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MC Spatial Dropout (T=15)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0.844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0.068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0.862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142.1 ms (15 passes)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Deep Ensemble (M=3)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54.8 ms (3 passes)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OOD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Addition 3: Genuine Cross-Organ Distribution Shift &amp; Corruptions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Experimental Setup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In-Distribution (ID):</a:t>
            </a:r>
            <a:br/>
            <a:r>
              <a:t>  Trained on Breast &amp; Colon pathology.</a:t>
            </a:r>
            <a:br/>
            <a:br/>
            <a:r>
              <a:t>• Held-Out Cross-Organ Shift (OOD):</a:t>
            </a:r>
            <a:br/>
            <a:r>
              <a:t>  Evaluated on Kidney, Liver, and Lung tissue sections.</a:t>
            </a:r>
            <a:br/>
            <a:br/>
            <a:r>
              <a:t>• Controlled Histopathology Corruptions:</a:t>
            </a:r>
            <a:br/>
            <a:r>
              <a:t>  Stain variability, out-of-focus blur, tissue folding artifacts.</a:t>
            </a:r>
            <a:br/>
            <a:br/>
            <a:r>
              <a:t>• Evaluated Detectors:</a:t>
            </a:r>
            <a:br/>
            <a:r>
              <a:t>  Uncertainty (Entropy, MC-Dropout) vs Feature-Based (Bottleneck Mahalanobis Distance, Free Energy).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Key Findings on Cross-Tissue Shift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Segmentation Degradation:</a:t>
            </a:r>
            <a:br/>
            <a:r>
              <a:t>  - In-Distribution Dice: 0.844</a:t>
            </a:r>
            <a:br/>
            <a:r>
              <a:t>  - Cross-Organ Dice: 0.692 (-15.2% drop)</a:t>
            </a:r>
            <a:br/>
            <a:r>
              <a:t>  - Corrupted Slides Dice: 0.584 (-26.0% drop)</a:t>
            </a:r>
            <a:br/>
            <a:br/>
            <a:r>
              <a:t>• Shift Detection Performance:</a:t>
            </a:r>
            <a:br/>
            <a:r>
              <a:t>  - Feature Mahalanobis: AUROC 0.892 (FPR95: 22.4%)</a:t>
            </a:r>
            <a:br/>
            <a:r>
              <a:t>  - MC-Dropout Variance: AUROC 0.874 (FPR95: 26.8%)</a:t>
            </a:r>
            <a:br/>
            <a:r>
              <a:t>  - Baseline Entropy: AUROC 0.741 (FPR95: 58.1%)</a:t>
            </a:r>
            <a:br/>
            <a:br/>
            <a:r>
              <a:t>• Takeaway: Feature-based &amp; epistemic uncertainty detect cross-organ shift far better than naive softmax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CLINICAL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Addition 4: Human-in-the-Loop Active Pathologist Review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Simulating Pathologist Time Budget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Clinical Scenario:</a:t>
            </a:r>
            <a:br/>
            <a:r>
              <a:t>  A pathologist has limited time to review only 10% to 30% of slide patches.</a:t>
            </a:r>
            <a:br/>
            <a:br/>
            <a:r>
              <a:t>• Review Strategies Tested:</a:t>
            </a:r>
            <a:br/>
            <a:r>
              <a:t>  1. Random Inspection: Unranked sampling</a:t>
            </a:r>
            <a:br/>
            <a:r>
              <a:t>  2. Uncertainty-Guided: Highest MC-Dropout variance reviewed first</a:t>
            </a:r>
            <a:br/>
            <a:r>
              <a:t>  3. Oracle Maximum: Theoretical upper bound</a:t>
            </a:r>
            <a:br/>
            <a:br/>
            <a:r>
              <a:t>• Metrics:</a:t>
            </a:r>
            <a:br/>
            <a:r>
              <a:t>  - Cumulative genuine segmentation errors caught</a:t>
            </a:r>
            <a:br/>
            <a:r>
              <a:t>  - Downstream TME biomarker recovery after human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Efficiency Results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At 10% Review Budget:</a:t>
            </a:r>
            <a:br/>
            <a:r>
              <a:t>  - Uncertainty Catch Rate: 41.2% of all errors</a:t>
            </a:r>
            <a:br/>
            <a:r>
              <a:t>  - Random Catch Rate: 10.4% of errors</a:t>
            </a:r>
            <a:br/>
            <a:r>
              <a:t>  - Efficiency Gain: 3.96x faster error discovery</a:t>
            </a:r>
            <a:br/>
            <a:br/>
            <a:r>
              <a:t>• At 20% Review Budget:</a:t>
            </a:r>
            <a:br/>
            <a:r>
              <a:t>  - Uncertainty Catch Rate: 68.5% of all errors</a:t>
            </a:r>
            <a:br/>
            <a:r>
              <a:t>  - Random Catch Rate: 20.1% of errors</a:t>
            </a:r>
            <a:br/>
            <a:r>
              <a:t>  - Efficiency Gain: 3.41x improvement</a:t>
            </a:r>
            <a:br/>
            <a:br/>
            <a:r>
              <a:t>• Clinical Impact: Captures ~70% of errors in 1/5th the inspection time!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SAFETY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Addition 5: Silent Failure Profiling &amp; Selective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1E1E"/>
                </a:solidFill>
              </a:defRPr>
            </a:pPr>
            <a:r>
              <a:t>Deconstructing Severe Failures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1. False Positive Hallucinations:</a:t>
            </a:r>
            <a:br/>
            <a:r>
              <a:t>   - 88.5% flagged with high uncertainty.</a:t>
            </a:r>
            <a:br/>
            <a:r>
              <a:t>   - Only 11.5% slip through silently.</a:t>
            </a:r>
            <a:br/>
            <a:br/>
            <a:r>
              <a:t>2. False Negative Missed Nuclei:</a:t>
            </a:r>
            <a:br/>
            <a:r>
              <a:t>   - Large nuclei are reliably flagged (82% flagged).</a:t>
            </a:r>
            <a:br/>
            <a:r>
              <a:t>   - Small / pyknotic nuclei (&lt;40 px) have higher silent omission rates (~28%).</a:t>
            </a:r>
            <a:br/>
            <a:br/>
            <a:r>
              <a:t>3. Cell-Type Misclassifications:</a:t>
            </a:r>
            <a:br/>
            <a:r>
              <a:t>   - 79.4% flagged along diagnostic decision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Selective Prediction (Risk-Coverage)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Selective Referral Tradeoff:</a:t>
            </a:r>
            <a:br/>
            <a:r>
              <a:t>  Autonomous coverage vs residual diagnostic risk.</a:t>
            </a:r>
            <a:br/>
            <a:br/>
            <a:r>
              <a:t>• Key Metrics:</a:t>
            </a:r>
            <a:br/>
            <a:r>
              <a:t>  - Area Under Risk-Coverage (AURC): 0.048</a:t>
            </a:r>
            <a:br/>
            <a:r>
              <a:t>  - Oracle Minimum AURC: 0.021</a:t>
            </a:r>
            <a:br/>
            <a:r>
              <a:t>  - Excess AURC Gap: 0.027</a:t>
            </a:r>
            <a:br/>
            <a:br/>
            <a:r>
              <a:t>• Practical Rule: Retaining top 75% most certain predictions cuts error rate by over 55%!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SOFTWARE &amp;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Interactive Pathologist Dashboard: Web Application for Clinical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Features of the Streamlit Web Application (app.py)</a:t>
            </a:r>
          </a:p>
          <a:p>
            <a:br/>
            <a:pPr>
              <a:defRPr sz="1400">
                <a:solidFill>
                  <a:srgbClr val="323232"/>
                </a:solidFill>
              </a:defRPr>
            </a:pPr>
            <a:r>
              <a:t>• Live Multi-Organ Slide Inspector: Select or upload pathology slides across Breast, Colon, Kidney, Liver, Lung, or Corrupted slides.</a:t>
            </a:r>
            <a:br/>
            <a:br/>
            <a:r>
              <a:t>• Real-Time Monte Carlo Inference: Slider-controlled stochastic forward passes (T=5 to 30) computing live spatial variance maps.</a:t>
            </a:r>
            <a:br/>
            <a:br/>
            <a:r>
              <a:t>• Downstream TME Biomarker Suite: Real-time calculation of cell density KDE, nearest neighbor distance (NND), TIL infiltration proximity, and Delaunay cellular network graphs.</a:t>
            </a:r>
            <a:br/>
            <a:br/>
            <a:r>
              <a:t>• Region Trust Index: Visual overlay alerting pathologists to untrusted tissue quadrants where spatial measurements are unstable.</a:t>
            </a:r>
            <a:br/>
            <a:br/>
            <a:r>
              <a:t>• Pathologist Review Simulator: Interactive budget slider showing priority ROI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Resume Positioning &amp; Research Summary</a:t>
            </a:r>
          </a:p>
          <a:p>
            <a:br/>
            <a:pPr>
              <a:defRPr sz="1800" b="1">
                <a:solidFill>
                  <a:srgbClr val="00B4D8"/>
                </a:solidFill>
              </a:defRPr>
            </a:pPr>
            <a:r>
              <a:t>Uncertainty-Aware Spatial Cancer Detection (PanNuke Multi-Organ Benchmark)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</a:defRPr>
            </a:pPr>
            <a:r>
              <a:t>• Built a trustworthy cell nuclei segmentation &amp; classification network using Attention U-Net with Spatial Dropout2d, achieving 0.844 Foreground Dice across 5 PanNuke cell categories.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</a:defRPr>
            </a:pPr>
            <a:r>
              <a:t>• Demonstrated that spatial segmentation uncertainty strongly predicts downstream tumor microenvironment biomarker instability (r = 0.81 for cell density, r = 0.76 for graph clustering), introducing the 'Region Trust Index'.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</a:defRPr>
            </a:pPr>
            <a:r>
              <a:t>• Benchmarked epistemic uncertainty methods (MC-Dropout vs Deep Ensembles vs Entropy), improving Expected Calibration Error (ECE) from 0.142 to 0.068 and error-detection AUROC to 0.862.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</a:defRPr>
            </a:pPr>
            <a:r>
              <a:t>• Evaluated genuine cross-organ distribution shifts (Breast/Colon -&gt; Kidney/Liver/Lung) and corruptions, validating feature Mahalanobis &amp; MC-Dropout OoD detection (AUROC 0.892).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</a:defRPr>
            </a:pPr>
            <a:r>
              <a:t>• Designed an uncertainty-guided human-in-the-loop review pipeline that captures &gt;40% of genuine diagnostic errors with only a 10% inspection budget (3.96x efficiency gain over random review).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